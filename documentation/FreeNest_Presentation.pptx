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3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12188952" cy="2011680"/>
          </a:xfrm>
          <a:prstGeom prst="rect">
            <a:avLst/>
          </a:prstGeom>
          <a:solidFill>
            <a:srgbClr val="0052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548640"/>
            <a:ext cx="121889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>
                <a:solidFill>
                  <a:srgbClr val="FFFFFF"/>
                </a:solidFill>
              </a:rPr>
              <a:t>FreeNest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554480"/>
            <a:ext cx="121889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A0C8FF"/>
                </a:solidFill>
              </a:rPr>
              <a:t>Marketplace Freelance Full-Stack avec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651760"/>
            <a:ext cx="121889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FFFFF"/>
                </a:solidFill>
              </a:rPr>
              <a:t>Laravel 12  |  React 19  |  Stripe  |  Docker  |  Ollama/Mistral 7B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291840"/>
            <a:ext cx="121889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B4DCFF"/>
                </a:solidFill>
              </a:rPr>
              <a:t>Projet de Fin d'Etudes — Ayoub Elmernissi — Juin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0" y="4114800"/>
            <a:ext cx="4873752" cy="457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0" y="4389120"/>
            <a:ext cx="121889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8C8C8"/>
                </a:solidFill>
              </a:rPr>
              <a:t>ayoubelmerniss55@gmail.com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Plan de la Presentation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411480" cy="347472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08176"/>
            <a:ext cx="411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426464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466"/>
                </a:solidFill>
              </a:rPr>
              <a:t>Contexte et Problematique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74519"/>
            <a:ext cx="411480" cy="347472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911095"/>
            <a:ext cx="411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929383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466"/>
                </a:solidFill>
              </a:rPr>
              <a:t>Presentation de FreeNest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77440"/>
            <a:ext cx="411480" cy="347472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414016"/>
            <a:ext cx="411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32304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466"/>
                </a:solidFill>
              </a:rPr>
              <a:t>Stack Technologique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60"/>
            <a:ext cx="411480" cy="347472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916936"/>
            <a:ext cx="411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935224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466"/>
                </a:solidFill>
              </a:rPr>
              <a:t>Architecture et CI/CD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83280"/>
            <a:ext cx="411480" cy="347472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419856"/>
            <a:ext cx="411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438144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466"/>
                </a:solidFill>
              </a:rPr>
              <a:t>Authentification, 2FA et KYC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86200"/>
            <a:ext cx="411480" cy="347472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922776"/>
            <a:ext cx="411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941064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466"/>
                </a:solidFill>
              </a:rPr>
              <a:t>Marketplace et Catalogue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389120"/>
            <a:ext cx="411480" cy="347472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425696"/>
            <a:ext cx="411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443984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466"/>
                </a:solidFill>
              </a:rPr>
              <a:t>Contrats, Jalons et Temps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892040"/>
            <a:ext cx="411480" cy="347472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4928616"/>
            <a:ext cx="411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4946904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466"/>
                </a:solidFill>
              </a:rPr>
              <a:t>Paiements Escrow et Stripe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394960"/>
            <a:ext cx="411480" cy="347472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5431536"/>
            <a:ext cx="411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449824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466"/>
                </a:solidFill>
              </a:rPr>
              <a:t>Messagerie Temps Reel et Push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1371600"/>
            <a:ext cx="411480" cy="347472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1408176"/>
            <a:ext cx="411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1426464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466"/>
                </a:solidFill>
              </a:rPr>
              <a:t>Intelligence Artificielle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1874519"/>
            <a:ext cx="411480" cy="347472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1911095"/>
            <a:ext cx="411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0" y="1929383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466"/>
                </a:solidFill>
              </a:rPr>
              <a:t>Agences et Gestion Talents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377440"/>
            <a:ext cx="411480" cy="347472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0" y="2414016"/>
            <a:ext cx="411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0" y="2432304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466"/>
                </a:solidFill>
              </a:rPr>
              <a:t>Administration et Finance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0" y="2880360"/>
            <a:ext cx="411480" cy="347472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2916936"/>
            <a:ext cx="411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0" y="2935224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466"/>
                </a:solidFill>
              </a:rPr>
              <a:t>Base de Donnees (35+ tables)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0" y="3383280"/>
            <a:ext cx="411480" cy="347472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0800" y="3419856"/>
            <a:ext cx="411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0" y="3438144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466"/>
                </a:solidFill>
              </a:rPr>
              <a:t>Diagrammes UML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3886200"/>
            <a:ext cx="411480" cy="347472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0" y="3922776"/>
            <a:ext cx="411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15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0" y="3941064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466"/>
                </a:solidFill>
              </a:rPr>
              <a:t>Deploiement Docker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00800" y="4389120"/>
            <a:ext cx="411480" cy="347472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00800" y="4425696"/>
            <a:ext cx="411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16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0" y="4443984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466"/>
                </a:solidFill>
              </a:rPr>
              <a:t>Demo et Resultats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00800" y="4892040"/>
            <a:ext cx="411480" cy="347472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0" y="4928616"/>
            <a:ext cx="411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17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58000" y="4946904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466"/>
                </a:solidFill>
              </a:rPr>
              <a:t>Bilan et Perspectives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Contexte et Problematique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3466"/>
                </a:solidFill>
              </a:rPr>
              <a:t>Le marche mondial du freelance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828800"/>
            <a:ext cx="2560320" cy="1188720"/>
          </a:xfrm>
          <a:prstGeom prst="rect">
            <a:avLst/>
          </a:prstGeom>
          <a:solidFill>
            <a:srgbClr val="0052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938528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</a:rPr>
              <a:t>1.57 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5146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</a:rPr>
              <a:t>Freelancers dans le monde</a:t>
            </a:r>
          </a:p>
        </p:txBody>
      </p:sp>
      <p:sp>
        <p:nvSpPr>
          <p:cNvPr id="9" name="Rectangle 8"/>
          <p:cNvSpPr/>
          <p:nvPr/>
        </p:nvSpPr>
        <p:spPr>
          <a:xfrm>
            <a:off x="3108960" y="1828800"/>
            <a:ext cx="2560320" cy="118872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1938528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</a:rPr>
              <a:t>455 Md$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25146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</a:rPr>
              <a:t>Marche 2025 (Mds $)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0" y="1828800"/>
            <a:ext cx="2560320" cy="11887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0" y="1938528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</a:rPr>
              <a:t>+15%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5146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</a:rPr>
              <a:t>Croissance annuelle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95360" y="1828800"/>
            <a:ext cx="2560320" cy="11887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0" y="1938528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</a:rPr>
              <a:t>20%+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25146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</a:rPr>
              <a:t>Commission Upwork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200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3466"/>
                </a:solidFill>
              </a:rPr>
              <a:t>Problematique : Les plateformes existantes souffrent de 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56616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* Commissions elevees (20%+ chez Upwork)</a:t>
            </a:r>
          </a:p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* Interfaces vieillissantes, UX mediocre</a:t>
            </a:r>
          </a:p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* Manque de transparence sur les paiements</a:t>
            </a:r>
          </a:p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* Aucune IA integree pour aider freelancers et clients</a:t>
            </a:r>
          </a:p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* Pas d'agences, pas de catalogue de services flexibles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Presentation de FreeNest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46464"/>
                </a:solidFill>
              </a:rPr>
              <a:t>Marketplace freelance full-stack de niveau 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46464"/>
                </a:solidFill>
              </a:rPr>
              <a:t>FreeNest — Alternative moderne et complete aux grandes plateformes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37360"/>
            <a:ext cx="530352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737360"/>
            <a:ext cx="73152" cy="566928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84708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3466"/>
                </a:solidFill>
              </a:rPr>
              <a:t>  Gestion de contrats et jalons complete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68880"/>
            <a:ext cx="530352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468880"/>
            <a:ext cx="73152" cy="566928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57860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3466"/>
                </a:solidFill>
              </a:rPr>
              <a:t>  Paiements escrow securises via Stripe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200400"/>
            <a:ext cx="530352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200400"/>
            <a:ext cx="73152" cy="566928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31012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3466"/>
                </a:solidFill>
              </a:rPr>
              <a:t>  Messagerie temps reel (WebSockets)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931920"/>
            <a:ext cx="530352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931920"/>
            <a:ext cx="73152" cy="566928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404164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3466"/>
                </a:solidFill>
              </a:rPr>
              <a:t>  Catalogue de services productises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663440"/>
            <a:ext cx="530352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4663440"/>
            <a:ext cx="73152" cy="566928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477316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3466"/>
                </a:solidFill>
              </a:rPr>
              <a:t>  Gestion d'agences freelance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1737360"/>
            <a:ext cx="530352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09360" y="1737360"/>
            <a:ext cx="73152" cy="566928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184708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3466"/>
                </a:solidFill>
              </a:rPr>
              <a:t>  IA locale (Ollama / Mistral 7B)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2468880"/>
            <a:ext cx="530352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09360" y="2468880"/>
            <a:ext cx="73152" cy="566928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257860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3466"/>
                </a:solidFill>
              </a:rPr>
              <a:t>  KYC et authentification 2FA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3200400"/>
            <a:ext cx="530352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09360" y="3200400"/>
            <a:ext cx="73152" cy="566928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331012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3466"/>
                </a:solidFill>
              </a:rPr>
              <a:t>  Notifications Push Web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3931920"/>
            <a:ext cx="530352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09360" y="3931920"/>
            <a:ext cx="73152" cy="566928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46520" y="404164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3466"/>
                </a:solidFill>
              </a:rPr>
              <a:t>  Deploiement Docker + CI/CD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9360" y="4663440"/>
            <a:ext cx="530352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09360" y="4663440"/>
            <a:ext cx="73152" cy="566928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46520" y="477316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3466"/>
                </a:solidFill>
              </a:rPr>
              <a:t>  Centre fiscal (W-9, VAT, W-8BEN)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Stack Technologique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5288"/>
                </a:solidFill>
              </a:rPr>
              <a:t>BACKEND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67E22"/>
                </a:solidFill>
              </a:rPr>
              <a:t>FRONTEND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Laravel 12 — API REST (100+ endpoints)</a:t>
            </a:r>
          </a:p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PHP 8.2 — types stricts, attributs</a:t>
            </a:r>
          </a:p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Sanctum — Bearer tokens</a:t>
            </a:r>
          </a:p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Socialite — OAuth Google</a:t>
            </a:r>
          </a:p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Stripe PHP SDK — paiements + webhooks</a:t>
            </a:r>
          </a:p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Laravel Echo — broadcast WebSocket</a:t>
            </a:r>
          </a:p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Spatie Permissions — roles et droits</a:t>
            </a:r>
          </a:p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Queues + Scheduler — taches async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55448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React 19 — Concurrent Mode + Suspense</a:t>
            </a:r>
          </a:p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Vite 6 — build ultra-rapide, HMR</a:t>
            </a:r>
          </a:p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TailwindCSS 3.4 — dark/light mode</a:t>
            </a:r>
          </a:p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Zustand 5.0 — state management</a:t>
            </a:r>
          </a:p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Framer Motion 12 — animations</a:t>
            </a:r>
          </a:p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Socket.IO 4.8 — temps reel</a:t>
            </a:r>
          </a:p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Three.js + R3F — globe 3D</a:t>
            </a:r>
          </a:p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Recharts 3.8 — graphiques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6035040"/>
            <a:ext cx="11430000" cy="36576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0807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646464"/>
                </a:solidFill>
              </a:defRPr>
            </a:pPr>
            <a:r>
              <a:t>  Docker + Compose</a:t>
            </a:r>
          </a:p>
          <a:p>
            <a:pPr>
              <a:spcAft>
                <a:spcPts val="400"/>
              </a:spcAft>
              <a:defRPr sz="1200">
                <a:solidFill>
                  <a:srgbClr val="646464"/>
                </a:solidFill>
              </a:defRPr>
            </a:pPr>
            <a:r>
              <a:t>  GitHub Actions CI/CD</a:t>
            </a:r>
          </a:p>
          <a:p>
            <a:pPr>
              <a:spcAft>
                <a:spcPts val="400"/>
              </a:spcAft>
              <a:defRPr sz="1200">
                <a:solidFill>
                  <a:srgbClr val="646464"/>
                </a:solidFill>
              </a:defRPr>
            </a:pPr>
            <a:r>
              <a:t>  MySQL 8.0 (35+ tables)</a:t>
            </a:r>
          </a:p>
          <a:p>
            <a:pPr>
              <a:spcAft>
                <a:spcPts val="400"/>
              </a:spcAft>
              <a:defRPr sz="1200">
                <a:solidFill>
                  <a:srgbClr val="646464"/>
                </a:solidFill>
              </a:defRPr>
            </a:pPr>
            <a:r>
              <a:t>  Redis (cache/queues)</a:t>
            </a:r>
          </a:p>
          <a:p>
            <a:pPr>
              <a:spcAft>
                <a:spcPts val="400"/>
              </a:spcAft>
              <a:defRPr sz="1200">
                <a:solidFill>
                  <a:srgbClr val="646464"/>
                </a:solidFill>
              </a:defRPr>
            </a:pPr>
            <a:r>
              <a:t>  Ollama / Mistral 7B (IA locale)</a:t>
            </a:r>
          </a:p>
          <a:p>
            <a:pPr>
              <a:spcAft>
                <a:spcPts val="400"/>
              </a:spcAft>
              <a:defRPr sz="1200">
                <a:solidFill>
                  <a:srgbClr val="646464"/>
                </a:solidFill>
              </a:defRPr>
            </a:pPr>
            <a:r>
              <a:t>  Nginx (frontend + backend)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Architecture et CI/CD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6464"/>
                </a:solidFill>
              </a:rPr>
              <a:t>Separation stricte Frontend / Backend / IA — REST + WebSocket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5029200" cy="5943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React 19 SPA (Vite + Nginx)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377440"/>
            <a:ext cx="5029200" cy="594360"/>
          </a:xfrm>
          <a:prstGeom prst="rect">
            <a:avLst/>
          </a:prstGeom>
          <a:solidFill>
            <a:srgbClr val="0052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5146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Laravel 12 API REST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200400"/>
            <a:ext cx="5029200" cy="594360"/>
          </a:xfrm>
          <a:prstGeom prst="rect">
            <a:avLst/>
          </a:prstGeom>
          <a:solidFill>
            <a:srgbClr val="003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3375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MySQL 8.0 + Redis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2377440"/>
            <a:ext cx="5029200" cy="5943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25146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Ollama / Mistral 7B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3200400"/>
            <a:ext cx="5029200" cy="59436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33375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Stripe API + Webhooks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1554480"/>
            <a:ext cx="5029200" cy="59436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16916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Google OAuth 2.0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114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3466"/>
                </a:solidFill>
              </a:rPr>
              <a:t>CI/CD GitHub Actions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48056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backend.yml : PHP CS Fixer + PHPStan + PHPUnit + Docker build</a:t>
            </a:r>
          </a:p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frontend.yml : npm ci + ESLint + Vite build + Vitest</a:t>
            </a:r>
          </a:p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Declenchement sur chaque push/PR — echec bloque le merge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Authentification, Securite et 2FA + KYC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5288"/>
                </a:solidFill>
              </a:rPr>
              <a:t>Authentification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3840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003466"/>
                </a:solidFill>
              </a:defRPr>
            </a:pPr>
            <a:r>
              <a:t>  Email + mot de passe (bcrypt)</a:t>
            </a:r>
          </a:p>
          <a:p>
            <a:pPr>
              <a:spcAft>
                <a:spcPts val="400"/>
              </a:spcAft>
              <a:defRPr sz="1200">
                <a:solidFill>
                  <a:srgbClr val="003466"/>
                </a:solidFill>
              </a:defRPr>
            </a:pPr>
            <a:r>
              <a:t>  Google OAuth 2.0 (Socialite)</a:t>
            </a:r>
          </a:p>
          <a:p>
            <a:pPr>
              <a:spcAft>
                <a:spcPts val="400"/>
              </a:spcAft>
              <a:defRPr sz="1200">
                <a:solidFill>
                  <a:srgbClr val="003466"/>
                </a:solidFill>
              </a:defRPr>
            </a:pPr>
            <a:r>
              <a:t>  Reset par email (2 etapes)</a:t>
            </a:r>
          </a:p>
          <a:p>
            <a:pPr>
              <a:spcAft>
                <a:spcPts val="400"/>
              </a:spcAft>
              <a:defRPr sz="1200">
                <a:solidFill>
                  <a:srgbClr val="003466"/>
                </a:solidFill>
              </a:defRPr>
            </a:pPr>
            <a:r>
              <a:t>  Throttle: 10 req/min auth</a:t>
            </a:r>
          </a:p>
          <a:p>
            <a:pPr>
              <a:spcAft>
                <a:spcPts val="400"/>
              </a:spcAft>
              <a:defRPr sz="1200">
                <a:solidFill>
                  <a:srgbClr val="003466"/>
                </a:solidFill>
              </a:defRPr>
            </a:pPr>
            <a:r>
              <a:t>  Throttle: 5 req/min reset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1188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7AE60"/>
                </a:solidFill>
              </a:rPr>
              <a:t>2FA TOTP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1554480"/>
            <a:ext cx="3657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003466"/>
                </a:solidFill>
              </a:defRPr>
            </a:pPr>
            <a:r>
              <a:t>  Google Authenticator</a:t>
            </a:r>
          </a:p>
          <a:p>
            <a:pPr>
              <a:spcAft>
                <a:spcPts val="400"/>
              </a:spcAft>
              <a:defRPr sz="1200">
                <a:solidFill>
                  <a:srgbClr val="003466"/>
                </a:solidFill>
              </a:defRPr>
            </a:pPr>
            <a:r>
              <a:t>  QR Code genere (secret TOTP)</a:t>
            </a:r>
          </a:p>
          <a:p>
            <a:pPr>
              <a:spcAft>
                <a:spcPts val="400"/>
              </a:spcAft>
              <a:defRPr sz="1200">
                <a:solidFill>
                  <a:srgbClr val="003466"/>
                </a:solidFill>
              </a:defRPr>
            </a:pPr>
            <a:r>
              <a:t>  Confirmation code 6 chiffres</a:t>
            </a:r>
          </a:p>
          <a:p>
            <a:pPr>
              <a:spcAft>
                <a:spcPts val="400"/>
              </a:spcAft>
              <a:defRPr sz="1200">
                <a:solidFill>
                  <a:srgbClr val="003466"/>
                </a:solidFill>
              </a:defRPr>
            </a:pPr>
            <a:r>
              <a:t>  8 codes de secours jetables</a:t>
            </a:r>
          </a:p>
          <a:p>
            <a:pPr>
              <a:spcAft>
                <a:spcPts val="400"/>
              </a:spcAft>
              <a:defRPr sz="1200">
                <a:solidFill>
                  <a:srgbClr val="003466"/>
                </a:solidFill>
              </a:defRPr>
            </a:pPr>
            <a:r>
              <a:t>  Regeneration des codes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188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7E22"/>
                </a:solidFill>
              </a:rPr>
              <a:t>KYC - Identite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554480"/>
            <a:ext cx="3657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003466"/>
                </a:solidFill>
              </a:defRPr>
            </a:pPr>
            <a:r>
              <a:t>  Upload passeport / CNI</a:t>
            </a:r>
          </a:p>
          <a:p>
            <a:pPr>
              <a:spcAft>
                <a:spcPts val="400"/>
              </a:spcAft>
              <a:defRPr sz="1200">
                <a:solidFill>
                  <a:srgbClr val="003466"/>
                </a:solidFill>
              </a:defRPr>
            </a:pPr>
            <a:r>
              <a:t>  Selfie de verification</a:t>
            </a:r>
          </a:p>
          <a:p>
            <a:pPr>
              <a:spcAft>
                <a:spcPts val="400"/>
              </a:spcAft>
              <a:defRPr sz="1200">
                <a:solidFill>
                  <a:srgbClr val="003466"/>
                </a:solidFill>
              </a:defRPr>
            </a:pPr>
            <a:r>
              <a:t>  Stockage local securise</a:t>
            </a:r>
          </a:p>
          <a:p>
            <a:pPr>
              <a:spcAft>
                <a:spcPts val="400"/>
              </a:spcAft>
              <a:defRPr sz="1200">
                <a:solidFill>
                  <a:srgbClr val="003466"/>
                </a:solidFill>
              </a:defRPr>
            </a:pPr>
            <a:r>
              <a:t>  File d'attente admin</a:t>
            </a:r>
          </a:p>
          <a:p>
            <a:pPr>
              <a:spcAft>
                <a:spcPts val="400"/>
              </a:spcAft>
              <a:defRPr sz="1200">
                <a:solidFill>
                  <a:srgbClr val="003466"/>
                </a:solidFill>
              </a:defRPr>
            </a:pPr>
            <a:r>
              <a:t>  Approbation / rejet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931920"/>
            <a:ext cx="11430000" cy="36576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4023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3466"/>
                </a:solidFill>
              </a:rPr>
              <a:t>Securite Globale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38912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Audit Logs : toute action sensible tracee (user, action, IP, metadata JSON)</a:t>
            </a:r>
          </a:p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Rate Limiting : auth (10/min), IA (20/min), search (60-120/min)</a:t>
            </a:r>
          </a:p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Validation stricte Form Requests Laravel + Middleware EnsurePlan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Marketplace et Catalogue de Services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5288"/>
                </a:solidFill>
              </a:rPr>
              <a:t>Offres d'emploi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669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003466"/>
                </a:solidFill>
              </a:defRPr>
            </a:pPr>
            <a:r>
              <a:t>  Publication avec budget min/max, type (horaire/fixe)</a:t>
            </a:r>
          </a:p>
          <a:p>
            <a:pPr>
              <a:spcAft>
                <a:spcPts val="400"/>
              </a:spcAft>
              <a:defRPr sz="1200">
                <a:solidFill>
                  <a:srgbClr val="003466"/>
                </a:solidFill>
              </a:defRPr>
            </a:pPr>
            <a:r>
              <a:t>  Statuts : draft -&gt; open -&gt; in_progress -&gt; completed</a:t>
            </a:r>
          </a:p>
          <a:p>
            <a:pPr>
              <a:spcAft>
                <a:spcPts val="400"/>
              </a:spcAft>
              <a:defRPr sz="1200">
                <a:solidFill>
                  <a:srgbClr val="003466"/>
                </a:solidFill>
              </a:defRPr>
            </a:pPr>
            <a:r>
              <a:t>  Index FULLTEXT MySQL pour recherche ultra-rapide</a:t>
            </a:r>
          </a:p>
          <a:p>
            <a:pPr>
              <a:spcAft>
                <a:spcPts val="400"/>
              </a:spcAft>
              <a:defRPr sz="1200">
                <a:solidFill>
                  <a:srgbClr val="003466"/>
                </a:solidFill>
              </a:defRPr>
            </a:pPr>
            <a:r>
              <a:t>  Filtres : categorie, budget, type, date</a:t>
            </a:r>
          </a:p>
          <a:p>
            <a:pPr>
              <a:spcAft>
                <a:spcPts val="400"/>
              </a:spcAft>
              <a:defRPr sz="1200">
                <a:solidFill>
                  <a:srgbClr val="003466"/>
                </a:solidFill>
              </a:defRPr>
            </a:pPr>
            <a:r>
              <a:t>  Sauvegarde des offres favorites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7E22"/>
                </a:solidFill>
              </a:rPr>
              <a:t>Catalogue (Fiverr-like)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55448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003466"/>
                </a:solidFill>
              </a:defRPr>
            </a:pPr>
            <a:r>
              <a:t>  Services productises (3 tiers : Basic/Standard/Premium)</a:t>
            </a:r>
          </a:p>
          <a:p>
            <a:pPr>
              <a:spcAft>
                <a:spcPts val="400"/>
              </a:spcAft>
              <a:defRPr sz="1200">
                <a:solidFill>
                  <a:srgbClr val="003466"/>
                </a:solidFill>
              </a:defRPr>
            </a:pPr>
            <a:r>
              <a:t>  Images multiples, descriptions detaillees</a:t>
            </a:r>
          </a:p>
          <a:p>
            <a:pPr>
              <a:spcAft>
                <a:spcPts val="400"/>
              </a:spcAft>
              <a:defRPr sz="1200">
                <a:solidFill>
                  <a:srgbClr val="003466"/>
                </a:solidFill>
              </a:defRPr>
            </a:pPr>
            <a:r>
              <a:t>  Commandes : checkout, livraison, validation</a:t>
            </a:r>
          </a:p>
          <a:p>
            <a:pPr>
              <a:spcAft>
                <a:spcPts val="400"/>
              </a:spcAft>
              <a:defRPr sz="1200">
                <a:solidFill>
                  <a:srgbClr val="003466"/>
                </a:solidFill>
              </a:defRPr>
            </a:pPr>
            <a:r>
              <a:t>  Avis post-commande (1-5 etoiles)</a:t>
            </a:r>
          </a:p>
          <a:p>
            <a:pPr>
              <a:spcAft>
                <a:spcPts val="400"/>
              </a:spcAft>
              <a:defRPr sz="1200">
                <a:solidFill>
                  <a:srgbClr val="003466"/>
                </a:solidFill>
              </a:defRPr>
            </a:pPr>
            <a:r>
              <a:t>  Moderation admin (approuver / rejeter)</a:t>
            </a:r>
          </a:p>
          <a:p>
            <a:pPr>
              <a:spcAft>
                <a:spcPts val="400"/>
              </a:spcAft>
              <a:defRPr sz="1200">
                <a:solidFill>
                  <a:srgbClr val="003466"/>
                </a:solidFill>
              </a:defRPr>
            </a:pPr>
            <a:r>
              <a:t>  Sauvegarde des services favoris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3931920"/>
            <a:ext cx="11430000" cy="36576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4023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3466"/>
                </a:solidFill>
              </a:rPr>
              <a:t>Recherche Globale + Propositions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38912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GET /api/search : recherche unifiee (offres + freelancers + services + agences)</a:t>
            </a:r>
          </a:p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GET /api/search/suggest : autocomplete temps reel (throttle 120/min) — resultats &lt; 50ms</a:t>
            </a:r>
          </a:p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Propositions : cover letter + bid + jalons JSON | Generee par IA | Flag is_ai_generated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Contrats, Jalons et Suivi du Temps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280160"/>
            <a:ext cx="1737360" cy="41148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4416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active</a:t>
            </a:r>
          </a:p>
        </p:txBody>
      </p:sp>
      <p:sp>
        <p:nvSpPr>
          <p:cNvPr id="7" name="Rectangle 6"/>
          <p:cNvSpPr/>
          <p:nvPr/>
        </p:nvSpPr>
        <p:spPr>
          <a:xfrm>
            <a:off x="2331720" y="1280160"/>
            <a:ext cx="1737360" cy="411480"/>
          </a:xfrm>
          <a:prstGeom prst="rect">
            <a:avLst/>
          </a:prstGeom>
          <a:solidFill>
            <a:srgbClr val="64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31720" y="134416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paused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280160"/>
            <a:ext cx="1737360" cy="4114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34416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completed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280160"/>
            <a:ext cx="1737360" cy="41148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134416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disputed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1280160"/>
            <a:ext cx="1737360" cy="4114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34416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cancelled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195560" y="1280160"/>
            <a:ext cx="1737360" cy="411480"/>
          </a:xfrm>
          <a:prstGeom prst="rect">
            <a:avLst/>
          </a:prstGeom>
          <a:solidFill>
            <a:srgbClr val="003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95560" y="134416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archived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828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466"/>
                </a:solidFill>
              </a:rPr>
              <a:t>Fonctionnalites avancees 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219456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Fichiers livres (versioning)</a:t>
            </a:r>
          </a:p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Suivi du temps (start/stop timer)</a:t>
            </a:r>
          </a:p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Extensions de deadline</a:t>
            </a:r>
          </a:p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Analytics du contrat</a:t>
            </a:r>
          </a:p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Journal d'activite chronologique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19456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Export PDF (contrat + litige)</a:t>
            </a:r>
          </a:p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Archive des contrats termines</a:t>
            </a:r>
          </a:p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Resolution de litiges par admin</a:t>
            </a:r>
          </a:p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Conversation liee au contrat</a:t>
            </a:r>
          </a:p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Notifications temps reel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480560"/>
            <a:ext cx="11430000" cy="36576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3466"/>
                </a:solidFill>
              </a:rPr>
              <a:t>Workflow des Jalons 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9377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46464"/>
                </a:solidFill>
              </a:rPr>
              <a:t>pending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49377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3466"/>
                </a:solidFill>
              </a:rPr>
              <a:t>-&gt;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0" y="49377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7E22"/>
                </a:solidFill>
              </a:rPr>
              <a:t>funded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49377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3466"/>
                </a:solidFill>
              </a:rPr>
              <a:t>-&gt;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49377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8D7"/>
                </a:solidFill>
              </a:rPr>
              <a:t>submitted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49377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3466"/>
                </a:solidFill>
              </a:rPr>
              <a:t>-&gt;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49377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7AE60"/>
                </a:solidFill>
              </a:rPr>
              <a:t>approved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3949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003466"/>
                </a:solidFill>
              </a:defRPr>
            </a:pPr>
            <a:r>
              <a:t>  Jalon rejected -&gt; retour a 'funded' | Jalon disputed -&gt; admin arbitre | Factures hebdomadaires (WeeklyInvoice)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Systeme de Paiement Escrow et Stripe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371600"/>
            <a:ext cx="2651760" cy="109728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1732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1. Depot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828800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</a:rPr>
              <a:t>Client paye via
Stripe Checkout
(3D Secure)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173736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3466"/>
                </a:solidFill>
              </a:rPr>
              <a:t>-&gt;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1371600"/>
            <a:ext cx="2651760" cy="109728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0" y="141732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2. Escrow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828800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</a:rPr>
              <a:t>Client bloque
des fonds pour
un jalon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173736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3466"/>
                </a:solidFill>
              </a:rPr>
              <a:t>-&gt;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371600"/>
            <a:ext cx="2651760" cy="10972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41732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3. Livraison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1828800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</a:rPr>
              <a:t>Freelancer soumet
son travail
+ fichiers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0" y="173736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3466"/>
                </a:solidFill>
              </a:rPr>
              <a:t>-&gt;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0" y="1371600"/>
            <a:ext cx="2651760" cy="1097280"/>
          </a:xfrm>
          <a:prstGeom prst="rect">
            <a:avLst/>
          </a:prstGeom>
          <a:solidFill>
            <a:srgbClr val="0052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1417320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4. Liberation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1828800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</a:rPr>
              <a:t>Client approuve
-&gt; 90% freelancer
10% commission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34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3466"/>
                </a:solidFill>
              </a:rPr>
              <a:t>Portefeuille a 3 balances :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246120"/>
            <a:ext cx="3474720" cy="7315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32735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balance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359359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Fonds disponibles et retirables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80" y="3246120"/>
            <a:ext cx="3474720" cy="7315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0" y="32735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pending_balance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359359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Fonds en transit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38160" y="3246120"/>
            <a:ext cx="3474720" cy="731520"/>
          </a:xfrm>
          <a:prstGeom prst="rect">
            <a:avLst/>
          </a:prstGeom>
          <a:solidFill>
            <a:srgbClr val="0052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0" y="327355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escrow_balance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3593592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Fonds bloques en garantie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114800"/>
            <a:ext cx="11430000" cy="36576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206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3466"/>
                </a:solidFill>
              </a:rPr>
              <a:t>Stripe Connect + Retraits + Abonnements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57200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003466"/>
                </a:solidFill>
              </a:defRPr>
            </a:pPr>
            <a:r>
              <a:t>  Stripe Connect Express : freelancers connectent leur IBAN pour virements</a:t>
            </a:r>
          </a:p>
          <a:p>
            <a:pPr>
              <a:spcAft>
                <a:spcPts val="400"/>
              </a:spcAft>
              <a:defRPr sz="1200">
                <a:solidFill>
                  <a:srgbClr val="003466"/>
                </a:solidFill>
              </a:defRPr>
            </a:pPr>
            <a:r>
              <a:t>  Retraits soumis a approbation admin (KYC requis pour deblocage)</a:t>
            </a:r>
          </a:p>
          <a:p>
            <a:pPr>
              <a:spcAft>
                <a:spcPts val="400"/>
              </a:spcAft>
              <a:defRPr sz="1200">
                <a:solidFill>
                  <a:srgbClr val="003466"/>
                </a:solidFill>
              </a:defRPr>
            </a:pPr>
            <a:r>
              <a:t>  Abonnements : Stripe Checkout + portail de facturation + invoices</a:t>
            </a:r>
          </a:p>
          <a:p>
            <a:pPr>
              <a:spcAft>
                <a:spcPts val="400"/>
              </a:spcAft>
              <a:defRPr sz="1200">
                <a:solidFill>
                  <a:srgbClr val="003466"/>
                </a:solidFill>
              </a:defRPr>
            </a:pPr>
            <a:r>
              <a:t>  Webhooks : checkout.session.completed, account.updated, invoice.paid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Messagerie Temps Reel et Notifications Push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6464"/>
                </a:solidFill>
              </a:rPr>
              <a:t>Laravel Echo + Socket.IO 4.8 — 11 evenements WebSocket diffuses en temps reel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645920"/>
            <a:ext cx="539496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645920"/>
            <a:ext cx="73152" cy="5943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6916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3466"/>
                </a:solidFill>
              </a:rPr>
              <a:t>Envoyer / Recevoir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947672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6464"/>
                </a:solidFill>
              </a:rPr>
              <a:t>Texte, fichiers, images en temps reel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395728"/>
            <a:ext cx="539496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2395728"/>
            <a:ext cx="73152" cy="5943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44144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3466"/>
                </a:solidFill>
              </a:rPr>
              <a:t>Editer message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697480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6464"/>
                </a:solidFill>
              </a:rPr>
              <a:t>Historique des modifications preserve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145536"/>
            <a:ext cx="539496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3145536"/>
            <a:ext cx="73152" cy="5943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19125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3466"/>
                </a:solidFill>
              </a:rPr>
              <a:t>Supprimer message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447288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6464"/>
                </a:solidFill>
              </a:rPr>
              <a:t>Suppression douce (deleted_at)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95344"/>
            <a:ext cx="539496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3895344"/>
            <a:ext cx="73152" cy="5943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94106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3466"/>
                </a:solidFill>
              </a:rPr>
              <a:t>Reactions emoji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197096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6464"/>
                </a:solidFill>
              </a:rPr>
              <a:t>Toggle par message — MessageReaction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645152"/>
            <a:ext cx="539496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4645152"/>
            <a:ext cx="73152" cy="5943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69087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3466"/>
                </a:solidFill>
              </a:rPr>
              <a:t>Accusee de lecture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946904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6464"/>
                </a:solidFill>
              </a:rPr>
              <a:t>Marquer toute la conversation lue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1645920"/>
            <a:ext cx="539496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09360" y="1645920"/>
            <a:ext cx="73152" cy="5943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16916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3466"/>
                </a:solidFill>
              </a:rPr>
              <a:t>Indicateur frappe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1947672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6464"/>
                </a:solidFill>
              </a:rPr>
              <a:t>UserTyping broadcast — 'X ecrit...'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60" y="2395728"/>
            <a:ext cx="539496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09360" y="2395728"/>
            <a:ext cx="73152" cy="5943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6520" y="244144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3466"/>
                </a:solidFill>
              </a:rPr>
              <a:t>Livraison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2697480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6464"/>
                </a:solidFill>
              </a:rPr>
              <a:t>MessageDelivered confirmation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9360" y="3145536"/>
            <a:ext cx="539496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09360" y="3145536"/>
            <a:ext cx="73152" cy="5943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46520" y="319125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3466"/>
                </a:solidFill>
              </a:rPr>
              <a:t>Recherche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3447288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6464"/>
                </a:solidFill>
              </a:rPr>
              <a:t>Par conversation ou contenu message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9360" y="3895344"/>
            <a:ext cx="539496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309360" y="3895344"/>
            <a:ext cx="73152" cy="5943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46520" y="3941064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3466"/>
                </a:solidFill>
              </a:rPr>
              <a:t>Piece jointe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6520" y="4197096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6464"/>
                </a:solidFill>
              </a:rPr>
              <a:t>Upload et partage de fichiers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09360" y="4645152"/>
            <a:ext cx="539496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309360" y="4645152"/>
            <a:ext cx="73152" cy="59436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46520" y="469087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3466"/>
                </a:solidFill>
              </a:rPr>
              <a:t>Lien contrat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46520" y="4946904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6464"/>
                </a:solidFill>
              </a:rPr>
              <a:t>Conversation liee au contrat actif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5943600"/>
            <a:ext cx="11430000" cy="36576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" y="59893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466"/>
                </a:solidFill>
              </a:rPr>
              <a:t>Push Notifications (VAPID) : Service Worker sw.js | subscribe / unsubscribe | Son (sound.js) + icone navigateur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Intelligence Artificielle — Ollama / Mistral 7B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6464"/>
                </a:solidFill>
              </a:rPr>
              <a:t>IA locale — Aucun envoi vers OpenAI — Confidentialite totale — Fallback si indisponible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457200" cy="658368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6916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1554480"/>
            <a:ext cx="10881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02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8D7"/>
                </a:solidFill>
              </a:rPr>
              <a:t>Generation de proposition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901952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6464"/>
                </a:solidFill>
              </a:rPr>
              <a:t>Redige une proposition a partir du profil freelancer et de l'offre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395728"/>
            <a:ext cx="457200" cy="65836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53288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2395728"/>
            <a:ext cx="10881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44144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7AE60"/>
                </a:solidFill>
              </a:rPr>
              <a:t>Matching freelancers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74320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6464"/>
                </a:solidFill>
              </a:rPr>
              <a:t>Recommande les meilleurs freelancers pour une offre client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236976"/>
            <a:ext cx="457200" cy="658368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37413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3236976"/>
            <a:ext cx="10881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28269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7E22"/>
                </a:solidFill>
              </a:rPr>
              <a:t>Analyse de profil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5844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6464"/>
                </a:solidFill>
              </a:rPr>
              <a:t>Conseils personnalises pour optimiser le profil freelancer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078224"/>
            <a:ext cx="457200" cy="658368"/>
          </a:xfrm>
          <a:prstGeom prst="rect">
            <a:avLst/>
          </a:prstGeom>
          <a:solidFill>
            <a:srgbClr val="0052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21538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" y="4078224"/>
            <a:ext cx="10881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12394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5288"/>
                </a:solidFill>
              </a:rPr>
              <a:t>Chat assistant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4425696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6464"/>
                </a:solidFill>
              </a:rPr>
              <a:t>Assistant IA conversationnel — questions/reponses contextuelles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919472"/>
            <a:ext cx="457200" cy="658368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505663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4919472"/>
            <a:ext cx="1088136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96519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44AD"/>
                </a:solidFill>
              </a:rPr>
              <a:t>Recherche intelligente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" y="5266944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6464"/>
                </a:solidFill>
              </a:rPr>
              <a:t>Recherche semantique au-dela des mots-cles exacts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5943600"/>
            <a:ext cx="11430000" cy="36576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598932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003466"/>
                </a:solidFill>
              </a:defRPr>
            </a:pPr>
            <a:r>
              <a:t>  Rate limit: 20 req/min | Logs tokens dans ai_histories | Fallback pre-genere si Ollama indisponible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Agences et Gestion des Talents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5288"/>
                </a:solidFill>
              </a:rPr>
              <a:t>Agences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Creer une agence (logo, nom, description)</a:t>
            </a:r>
          </a:p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Inviter des membres par email (token unique)</a:t>
            </a:r>
          </a:p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Roles : owner / admin / member</a:t>
            </a:r>
          </a:p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Transfert de propriete de l'agence</a:t>
            </a:r>
          </a:p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Page publique dans le repertoire agences</a:t>
            </a:r>
          </a:p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Accepter / decliner une invitation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67E22"/>
                </a:solidFill>
              </a:rPr>
              <a:t>Gestion des Talents (Clients)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0020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Saved Freelancers : signets rapides (un clic)</a:t>
            </a:r>
          </a:p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Talent Lists : listes curees et nommees</a:t>
            </a:r>
          </a:p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Ajouter / retirer des membres de liste</a:t>
            </a:r>
          </a:p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Notes personnelles sur les freelancers</a:t>
            </a:r>
          </a:p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Organisation par specialite ou projet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480560"/>
            <a:ext cx="11430000" cy="36576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7AE60"/>
                </a:solidFill>
              </a:rPr>
              <a:t>Centre Fiscal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937760"/>
            <a:ext cx="11430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Soumission : W-9 (USA), W-8BEN (international), VAT (Europe)</a:t>
            </a:r>
          </a:p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Export PDF des documents fiscaux | Validation admin (approuver / rejeter avec motif)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Administration et Finance Admin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371600"/>
            <a:ext cx="5394960" cy="457200"/>
          </a:xfrm>
          <a:prstGeom prst="rect">
            <a:avLst/>
          </a:prstGeom>
          <a:solidFill>
            <a:srgbClr val="0052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Dashboard Admin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466"/>
                </a:solidFill>
              </a:rPr>
              <a:t>  &gt; Stats : GMV, commissions, contrats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28600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466"/>
                </a:solidFill>
              </a:rPr>
              <a:t>  &gt; Gestion utilisateurs (ban, verify)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74320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466"/>
                </a:solidFill>
              </a:rPr>
              <a:t>  &gt; Analytics avancees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371600"/>
            <a:ext cx="5394960" cy="4572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44475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Finance Admin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82880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466"/>
                </a:solidFill>
              </a:rPr>
              <a:t>  &gt; Vue d'ensemble revenue plateforme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28600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466"/>
                </a:solidFill>
              </a:rPr>
              <a:t>  &gt; File retraits (approuver / rejeter)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74320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466"/>
                </a:solidFill>
              </a:rPr>
              <a:t>  &gt; Parametres : commission, limites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657600"/>
            <a:ext cx="539496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73075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KYC Admin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11480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466"/>
                </a:solidFill>
              </a:rPr>
              <a:t>  &gt; File verifications en attente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57200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466"/>
                </a:solidFill>
              </a:rPr>
              <a:t>  &gt; Acces securise aux documents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02920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466"/>
                </a:solidFill>
              </a:rPr>
              <a:t>  &gt; Approuver / Rejeter + audit log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3657600"/>
            <a:ext cx="5394960" cy="4572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373075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Moderation Catalogue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11480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466"/>
                </a:solidFill>
              </a:rPr>
              <a:t>  &gt; Services en attente de validation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57200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466"/>
                </a:solidFill>
              </a:rPr>
              <a:t>  &gt; Approuver / Rejeter publication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502920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3466"/>
                </a:solidFill>
              </a:rPr>
              <a:t>  &gt; Documents fiscaux W-9/W-8BEN/VAT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6080760"/>
            <a:ext cx="11430000" cy="36576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108192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6464"/>
                </a:solidFill>
              </a:rPr>
              <a:t>Middleware 'admin' + double verification controller — Audit logs sur toutes les actions sensibles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Base de Donnees — 35+ Tables MySQL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6_e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1188720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Diagrammes UML — Vue d'Ensemble (20 diagrammes)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1_use_case_glob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280160"/>
            <a:ext cx="3840480" cy="2560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2880" y="385876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46464"/>
                </a:solidFill>
              </a:rPr>
              <a:t>Use Case Global</a:t>
            </a:r>
          </a:p>
        </p:txBody>
      </p:sp>
      <p:pic>
        <p:nvPicPr>
          <p:cNvPr id="7" name="Picture 6" descr="02_use_case_freelanc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280160"/>
            <a:ext cx="3840480" cy="2560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206240" y="385876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46464"/>
                </a:solidFill>
              </a:rPr>
              <a:t>Use Case Freelancer</a:t>
            </a:r>
          </a:p>
        </p:txBody>
      </p:sp>
      <p:pic>
        <p:nvPicPr>
          <p:cNvPr id="9" name="Picture 8" descr="05_class_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1280160"/>
            <a:ext cx="3840480" cy="2560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0" y="385876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46464"/>
                </a:solidFill>
              </a:rPr>
              <a:t>Diagramme de Classes</a:t>
            </a:r>
          </a:p>
        </p:txBody>
      </p:sp>
      <p:pic>
        <p:nvPicPr>
          <p:cNvPr id="11" name="Picture 10" descr="14_activity_cyc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3931920"/>
            <a:ext cx="3840480" cy="2560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2880" y="651052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46464"/>
                </a:solidFill>
              </a:rPr>
              <a:t>Activite Mission</a:t>
            </a:r>
          </a:p>
        </p:txBody>
      </p:sp>
      <p:pic>
        <p:nvPicPr>
          <p:cNvPr id="13" name="Picture 12" descr="16_state_contra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06240" y="3931920"/>
            <a:ext cx="3840480" cy="2560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06240" y="651052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46464"/>
                </a:solidFill>
              </a:rPr>
              <a:t>Etats Contrat</a:t>
            </a:r>
          </a:p>
        </p:txBody>
      </p:sp>
      <p:pic>
        <p:nvPicPr>
          <p:cNvPr id="15" name="Picture 14" descr="17_state_mileston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3931920"/>
            <a:ext cx="3840480" cy="2560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229600" y="651052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46464"/>
                </a:solidFill>
              </a:rPr>
              <a:t>Etats Jalon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Deploiement Docker et Infrastructure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371600"/>
            <a:ext cx="2468880" cy="137160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50876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Frontend
React 19 + Nginx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0" y="1371600"/>
            <a:ext cx="2468880" cy="1371600"/>
          </a:xfrm>
          <a:prstGeom prst="rect">
            <a:avLst/>
          </a:prstGeom>
          <a:solidFill>
            <a:srgbClr val="0052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17520" y="150876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Backend
Laravel 12 API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0" y="1371600"/>
            <a:ext cx="2468880" cy="13716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0" y="150876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MySQL 8.0
35+ tables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21040" y="1371600"/>
            <a:ext cx="2468880" cy="13716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50876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Redis
Cache + Queues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926080"/>
            <a:ext cx="2468880" cy="118872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306324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Soketi
WebSocket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2926080"/>
            <a:ext cx="2468880" cy="118872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17520" y="306324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Ollama
Mistral 7B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0" y="2926080"/>
            <a:ext cx="2468880" cy="1188720"/>
          </a:xfrm>
          <a:prstGeom prst="rect">
            <a:avLst/>
          </a:prstGeom>
          <a:solidFill>
            <a:srgbClr val="635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0" y="306324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Stripe
Paiements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21040" y="2926080"/>
            <a:ext cx="2468880" cy="1188720"/>
          </a:xfrm>
          <a:prstGeom prst="rect">
            <a:avLst/>
          </a:prstGeom>
          <a:solidFill>
            <a:srgbClr val="2429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306324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GitHub Actions
CI/CD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297680"/>
            <a:ext cx="11430000" cy="36576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389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3466"/>
                </a:solidFill>
              </a:rPr>
              <a:t>Configuration Production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75488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Dockerfile multi-stage backend (PHP-FPM + Nginx) + Dockerfile Nginx frontend</a:t>
            </a:r>
          </a:p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nginx.conf : Gzip, Cache-Control (assets 1 an), SPA try_files, Service Worker</a:t>
            </a:r>
          </a:p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docker-compose.yml : orchestration complete (6+ services)</a:t>
            </a:r>
          </a:p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CI/CD : backend.yml + frontend.yml — echec bloque le merge automatiquement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Demo et Resultats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2560320" cy="1188720"/>
          </a:xfrm>
          <a:prstGeom prst="rect">
            <a:avLst/>
          </a:prstGeom>
          <a:solidFill>
            <a:srgbClr val="0052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481328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</a:rPr>
              <a:t>35+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20574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</a:rPr>
              <a:t>Tables MySQL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0" y="1371600"/>
            <a:ext cx="2560320" cy="1188720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08960" y="1481328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</a:rPr>
              <a:t>100+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20574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</a:rPr>
              <a:t>Endpoints API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0" y="1371600"/>
            <a:ext cx="2560320" cy="11887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0" y="1481328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</a:rPr>
              <a:t>50+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0574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</a:rPr>
              <a:t>Pages React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78240" y="1371600"/>
            <a:ext cx="2560320" cy="11887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78240" y="1481328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</a:rPr>
              <a:t>80+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20574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</a:rPr>
              <a:t>Composants React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743200"/>
            <a:ext cx="2560320" cy="118872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2852928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34290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</a:rPr>
              <a:t>Evenements WS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08960" y="2743200"/>
            <a:ext cx="2560320" cy="118872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08960" y="2852928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34290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</a:rPr>
              <a:t>Fonctionnalites IA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0" y="2743200"/>
            <a:ext cx="2560320" cy="11887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0" y="2852928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</a:rPr>
              <a:t>6+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4290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</a:rPr>
              <a:t>Services Docker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78240" y="2743200"/>
            <a:ext cx="2560320" cy="1188720"/>
          </a:xfrm>
          <a:prstGeom prst="rect">
            <a:avLst/>
          </a:prstGeom>
          <a:solidFill>
            <a:srgbClr val="003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78240" y="2852928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</a:rPr>
              <a:t>25K+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0" y="34290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</a:rPr>
              <a:t>LOC (lignes code)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114800"/>
            <a:ext cx="11430000" cy="36576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4206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3466"/>
                </a:solidFill>
              </a:rPr>
              <a:t>Parcours utilisateur demontrable de bout en bout 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572000"/>
            <a:ext cx="11430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Inscription -&gt; 2FA -&gt; KYC -&gt; Publication offre -&gt; Proposition IA -&gt; Contrat -&gt; Escrow Stripe -&gt; Livraison -&gt; Paiement</a:t>
            </a:r>
          </a:p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Catalogue : service -&gt; commande -&gt; livraison -&gt; avis  |  Agence : creation -&gt; invitation -&gt; collaboration</a:t>
            </a:r>
          </a:p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Chat temps reel + reactions emoji + Push Web  |  Admin : finance, KYC, moderation catalogue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3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Bilan et Perspectives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5288"/>
                </a:solidFill>
              </a:rPr>
              <a:t>Competences acquises 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Architecture full-stack decouplee (API REST + SPA)</a:t>
            </a:r>
          </a:p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Paiements complexes (Stripe, escrow, webhooks)</a:t>
            </a:r>
          </a:p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Temps reel (Laravel Broadcasting + Socket.IO)</a:t>
            </a:r>
          </a:p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Securite avancee (2FA, KYC, audit logs)</a:t>
            </a:r>
          </a:p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DevOps complet (Docker, Nginx, CI/CD)</a:t>
            </a:r>
          </a:p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Integration IA locale (Ollama, Mistral 7B)</a:t>
            </a:r>
          </a:p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BDD relationnelle complexe (35+ tables)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67E22"/>
                </a:solidFill>
              </a:rPr>
              <a:t>Perspectives 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0020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Application mobile React Native</a:t>
            </a:r>
          </a:p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Microservices (Auth / Payment / AI)</a:t>
            </a:r>
          </a:p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IA multimodale (images, videos)</a:t>
            </a:r>
          </a:p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Video consultations integrees</a:t>
            </a:r>
          </a:p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Multi-devises, i18n international</a:t>
            </a:r>
          </a:p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Kubernetes (orchestration prod)</a:t>
            </a:r>
          </a:p>
          <a:p>
            <a:pPr>
              <a:spcAft>
                <a:spcPts val="400"/>
              </a:spcAft>
              <a:defRPr sz="1300">
                <a:solidFill>
                  <a:srgbClr val="003466"/>
                </a:solidFill>
              </a:defRPr>
            </a:pPr>
            <a:r>
              <a:t>  Certifications freelancers en ligne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29200"/>
            <a:ext cx="11430000" cy="36576"/>
          </a:xfrm>
          <a:prstGeom prst="rect">
            <a:avLst/>
          </a:prstGeom>
          <a:solidFill>
            <a:srgbClr val="0078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120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3466"/>
                </a:solidFill>
              </a:rPr>
              <a:t>Difficultes surmontees 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86400"/>
            <a:ext cx="11430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003466"/>
                </a:solidFill>
              </a:defRPr>
            </a:pPr>
            <a:r>
              <a:t>  Transactions atomiques escrow (race conditions evitees avec BEGIN/COMMIT)</a:t>
            </a:r>
          </a:p>
          <a:p>
            <a:pPr>
              <a:spcAft>
                <a:spcPts val="400"/>
              </a:spcAft>
              <a:defRPr sz="1200">
                <a:solidFill>
                  <a:srgbClr val="003466"/>
                </a:solidFill>
              </a:defRPr>
            </a:pPr>
            <a:r>
              <a:t>  Securite Stripe Webhooks (verification HMAC signature, idempotence des evenements)</a:t>
            </a:r>
          </a:p>
          <a:p>
            <a:pPr>
              <a:spcAft>
                <a:spcPts val="400"/>
              </a:spcAft>
              <a:defRPr sz="1200">
                <a:solidFill>
                  <a:srgbClr val="003466"/>
                </a:solidFill>
              </a:defRPr>
            </a:pPr>
            <a:r>
              <a:t>  WebSockets en production (Soketi containerise, canaux prives Sanctum)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34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88952" cy="2560320"/>
          </a:xfrm>
          <a:prstGeom prst="rect">
            <a:avLst/>
          </a:prstGeom>
          <a:solidFill>
            <a:srgbClr val="0052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731520"/>
            <a:ext cx="121889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</a:rPr>
              <a:t>Merci pour votre attention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377440"/>
            <a:ext cx="121889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</a:rPr>
              <a:t>FreeNest — Marketplace Freelance Full-Stack de Niveau 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017520"/>
            <a:ext cx="121889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A0C8FF"/>
                </a:solidFill>
              </a:rPr>
              <a:t>Laravel 12  |  React 19  |  Stripe  |  Docker  |  Ollama  |  CI/CD GitHub Actions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0" y="3749039"/>
            <a:ext cx="4873752" cy="5486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3931920"/>
            <a:ext cx="121889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8DCFF"/>
                </a:solidFill>
              </a:rPr>
              <a:t>Ayoub Elmernissi — ayoubelmerniss55@gmail.com — Juin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4754880"/>
            <a:ext cx="121889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E67E22"/>
                </a:solidFill>
              </a:rPr>
              <a:t>Questions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