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7648" y="0"/>
            <a:ext cx="7315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FREENEST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4D2FF"/>
                </a:solidFill>
                <a:latin typeface="Calibri"/>
              </a:rPr>
              <a:t>Marketplace Freelance Full-Stack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67E22"/>
                </a:solidFill>
                <a:latin typeface="Calibri"/>
              </a:rPr>
              <a:t>avec Intelligence Artificielle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0292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Realise par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246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CFF"/>
                </a:solidFill>
                <a:latin typeface="Calibri"/>
              </a:rPr>
              <a:t>Ayoub Elmernissi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130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Email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8130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CFF"/>
                </a:solidFill>
                <a:latin typeface="Calibri"/>
              </a:rPr>
              <a:t>ayoubelmerniss55@gmail.com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7997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Etablissement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37997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CFF"/>
                </a:solidFill>
                <a:latin typeface="Calibri"/>
              </a:rPr>
              <a:t>[Nom de l'etablissement]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4690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Filiere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94690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CFF"/>
                </a:solidFill>
                <a:latin typeface="Calibri"/>
              </a:rPr>
              <a:t>Developpement Web / Informatique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1383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Annee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5138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CFF"/>
                </a:solidFill>
                <a:latin typeface="Calibri"/>
              </a:rPr>
              <a:t>2025 –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40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Technologies Cles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234440"/>
            <a:ext cx="1737360" cy="365760"/>
          </a:xfrm>
          <a:prstGeom prst="roundRect">
            <a:avLst/>
          </a:prstGeom>
          <a:solidFill>
            <a:srgbClr val="003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Laravel 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234440"/>
            <a:ext cx="173736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React 19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746504"/>
            <a:ext cx="17373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746504"/>
            <a:ext cx="1737360" cy="365760"/>
          </a:xfrm>
          <a:prstGeom prst="roundRect">
            <a:avLst/>
          </a:prstGeom>
          <a:solidFill>
            <a:srgbClr val="003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Ollama / Mistral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258568"/>
            <a:ext cx="173736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Socket.IO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258568"/>
            <a:ext cx="17373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Three.js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2770632"/>
            <a:ext cx="1737360" cy="365760"/>
          </a:xfrm>
          <a:prstGeom prst="roundRect">
            <a:avLst/>
          </a:prstGeom>
          <a:solidFill>
            <a:srgbClr val="003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Sanctum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2770632"/>
            <a:ext cx="173736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TailwindCSS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3282696"/>
            <a:ext cx="173736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Framer Motion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282696"/>
            <a:ext cx="1737360" cy="365760"/>
          </a:xfrm>
          <a:prstGeom prst="roundRect">
            <a:avLst/>
          </a:prstGeom>
          <a:solidFill>
            <a:srgbClr val="003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Stripe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96C8"/>
                </a:solidFill>
                <a:latin typeface="Calibri"/>
              </a:rPr>
              <a:t>Rapport de PFE  |  Ayoub Elmernissi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Plan de la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FreeNest — Marketplace Freelance avec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Contexte et Problematique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Presentation de FreeNest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59736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597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597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Technologies utilisees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72384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0723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7238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Architecture du systeme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85032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685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850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Module Authentification &amp; Onboarding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97680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97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Module Marketplace et Offres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10328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910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103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Module Propositions et Contrats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22976"/>
            <a:ext cx="457200" cy="4114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5229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2297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Module Paiements &amp; Escrow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234440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234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Module Messagerie Temps Reel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847088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8470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18470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Module Intelligence Artificielle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459736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4597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11.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45973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Base de donnees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72384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0723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0723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Securite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685032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685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13.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685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Demonstration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97680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2976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14.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2976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Difficultes et Solutions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910328"/>
            <a:ext cx="4572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910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9103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Bilan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Contexte et Problematique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Le marche du travail freelance en plein 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Calibri"/>
              </a:rPr>
              <a:t>Le marche freelance represente +36% de la population active mondiale d'ici 2030.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2743200" cy="19202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Langue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F0FF"/>
                </a:solidFill>
                <a:latin typeface="Calibri"/>
              </a:rPr>
              <a:t>Upwork / Fiverr
majoritairement
en anglais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4320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IA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31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F0FF"/>
                </a:solidFill>
                <a:latin typeface="Calibri"/>
              </a:rPr>
              <a:t>Fonctions IA
reservees aux
abonnements chers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274320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Commissions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F0FF"/>
                </a:solidFill>
                <a:latin typeface="Calibri"/>
              </a:rPr>
              <a:t>Jusqu'a 20%
prelevement par
transaction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737360"/>
            <a:ext cx="2743200" cy="1920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75564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Complexite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331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CF0FF"/>
                </a:solidFill>
                <a:latin typeface="Calibri"/>
              </a:rPr>
              <a:t>Interfaces peu
intuitives pour
les debutants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85876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23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288"/>
                </a:solidFill>
                <a:latin typeface="Calibri"/>
              </a:rPr>
              <a:t>Solution : FreeNest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26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Calibri"/>
              </a:rPr>
              <a:t>Une marketplace moderne, accessible, avec IA gratuite et paiement escrow transparent.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212080"/>
            <a:ext cx="2011680" cy="347472"/>
          </a:xfrm>
          <a:prstGeom prst="round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IA integree pour tous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5212080"/>
            <a:ext cx="2011680" cy="347472"/>
          </a:xfrm>
          <a:prstGeom prst="round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Commission fixe 10%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212080"/>
            <a:ext cx="2011680" cy="347472"/>
          </a:xfrm>
          <a:prstGeom prst="round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Escrow securise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715000"/>
            <a:ext cx="2011680" cy="34747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Interface 3D moderne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5715000"/>
            <a:ext cx="2011680" cy="34747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OAuth Google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715000"/>
            <a:ext cx="2011680" cy="34747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Temps reel Socket.IO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Presentation de FreeNest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Marketplace Freelance Full-Stack avec Intelligence Artificielle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77724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Nom 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252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FreeNest  (alias Panda)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55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Type 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55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Marketplace B2B / B2C Freelance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77724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585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Backend 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58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Laravel 12  (PHP 8.2+)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761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Frontend 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React 19  +  Vite  +  TailwindCSS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77724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264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Base de donnees 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64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MySQL 8.0  —  19 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767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Authentification 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767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Sanctum  +  JWT  +  Google OAuth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06240"/>
            <a:ext cx="77724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2702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Intelligence IA 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702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Ollama  (modele Mistral 7B)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773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Temps reel 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4773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Socket.IO 4.8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12080"/>
            <a:ext cx="7772400" cy="4572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276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Paiements  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276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Systeme Escrow  +  Stripe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188720"/>
            <a:ext cx="1828800" cy="12801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3533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938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E1FF"/>
                </a:solidFill>
                <a:latin typeface="Calibri"/>
              </a:rPr>
              <a:t>Tables BDD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1280160"/>
            <a:ext cx="182880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14447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029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E1FF"/>
                </a:solidFill>
                <a:latin typeface="Calibri"/>
              </a:rPr>
              <a:t>Endpoints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651760"/>
            <a:ext cx="182880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28163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53+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01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E1FF"/>
                </a:solidFill>
                <a:latin typeface="Calibri"/>
              </a:rPr>
              <a:t>Composants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2743200"/>
            <a:ext cx="1828800" cy="12801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9077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34930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E1FF"/>
                </a:solidFill>
                <a:latin typeface="Calibri"/>
              </a:rPr>
              <a:t>Features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Stack Technologique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Technologies modernes choisies pour performance et maintenabilite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834640" cy="4572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6128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Laravel 12     —  Framework PHP MVC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Sanctum 4.3    —  Auth tokens Bearer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7180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63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Socialite 5.27 —  OAuth 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03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Spatie 6.25    —  Roles et permissions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5196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3434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JWT Auth 2.3   —  JSON Web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9834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Intervention   —  Traitement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143000"/>
            <a:ext cx="28346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116128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69164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React 19.2     —  UI reactive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Vite           —  Build ultra-rapide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97180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063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TailwindCSS 3.4—  Styles utilitaires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703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Zustand 5.0    —  State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25196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3434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Three.js + R3F —  Rendu 3D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9834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Framer Motion  —  Animations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143000"/>
            <a:ext cx="28346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16128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BASE DE DONNEES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69164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MySQL 8.0      —  SGBDR relationnel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Eloquent ORM   —  Requetes elegantes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97180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063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19 tables      —  Schema complet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703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Migrations     —  Versionnees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1143000"/>
            <a:ext cx="28346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116128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SPECIAL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2560" y="169164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1783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Ollama / Mistral 7B  —  IA locale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Socket.IO 4.8        —  Temps reel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297180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0632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Axios 1.16           —  Client HTTP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7033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Recharts 3.8         —  Graphiques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4251960"/>
            <a:ext cx="2834640" cy="59436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43434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Stripe SDK           —  Paiements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 du Systeme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Full-Stack decouple — API REST stateless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143000"/>
            <a:ext cx="9144000" cy="1115568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234440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NAVIGATEUR  (Chrome / Firefox)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2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F0FF"/>
                </a:solidFill>
                <a:latin typeface="Calibri"/>
              </a:rPr>
              <a:t>React 19 + Vite  —  port 5173
53+ composants  |  Zustand  |  Axios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585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Calibri"/>
              </a:rPr>
              <a:t>REST API  |  Bearer Token  | 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404872"/>
            <a:ext cx="9144000" cy="1115568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496312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  (Laravel 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35224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F0FF"/>
                </a:solidFill>
                <a:latin typeface="Calibri"/>
              </a:rPr>
              <a:t>10 Controleurs  |  40+ Endpoints REST
Middleware Auth + Roles  |  17 Modeles Eloquent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20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Calibri"/>
              </a:rPr>
              <a:t>REST API  |  Bearer Token  |  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666744"/>
            <a:ext cx="9144000" cy="11155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75818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BASE DE DONNEES  (MySQL 8.0)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97096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F0FF"/>
                </a:solidFill>
                <a:latin typeface="Calibri"/>
              </a:rPr>
              <a:t>19 tables  |  200+ colonnes  |  15+ relations FK
Migrations versionnees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823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Calibri"/>
              </a:rPr>
              <a:t>REST API  |  Bearer Token  |  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928616"/>
            <a:ext cx="9144000" cy="11155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020056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IA &amp; TEMPS REEL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58968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CF0FF"/>
                </a:solidFill>
                <a:latin typeface="Calibri"/>
              </a:rPr>
              <a:t>Ollama / Mistral 7B  (port 11434)
Socket.IO Server  (port 3001)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6464"/>
                </a:solidFill>
                <a:latin typeface="Calibri"/>
              </a:rPr>
              <a:t>Avantages : Separation des responsabilites  —  Scalabilite horizontale  —  App mobile possible sans modifier le backend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Module 1 — Authentification &amp;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3 methodes d'auth  |  Onboarding freelancer en 5 etapes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5288"/>
                </a:solidFill>
                <a:latin typeface="Calibri"/>
              </a:rPr>
              <a:t>3 Methodes d'Authentification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73152" cy="8686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029200" cy="8686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288"/>
                </a:solidFill>
                <a:latin typeface="Calibri"/>
              </a:rPr>
              <a:t>Email + Mot de passe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Sanctum Bearer Token
Revocable a la deconnexion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73152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5029200" cy="8686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Google OAuth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9184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Laravel Socialite
Creation auto du compte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029200" cy="8686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050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JWT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891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Calibri"/>
              </a:rPr>
              <a:t>JSON Web Tokens
API stateless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1887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5288"/>
                </a:solidFill>
                <a:latin typeface="Calibri"/>
              </a:rPr>
              <a:t>Onboarding Freelancer — 5 Etapes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719072"/>
            <a:ext cx="502920" cy="6858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719072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562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Categorie principale  +  Specialites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2404872"/>
            <a:ext cx="91440" cy="1828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2596896"/>
            <a:ext cx="502920" cy="6858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2596896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7340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Niveau d'experience  (entry / mid / expert)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282696"/>
            <a:ext cx="91440" cy="1828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474720"/>
            <a:ext cx="502920" cy="6858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474720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611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Formation et education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4160520"/>
            <a:ext cx="91440" cy="1828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4352544"/>
            <a:ext cx="502920" cy="6858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352544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48970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Disponibilite  +  Heures/sem  +  Tarif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5038344"/>
            <a:ext cx="91440" cy="18288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5230368"/>
            <a:ext cx="5029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5230368"/>
            <a:ext cx="502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367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Calibri"/>
              </a:rPr>
              <a:t>Photo de profil  +  Langues parlees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Module 2 — Marketplace des Offres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Publication, recherche et filtrage des offres d'emploi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Cote CLIENT — Publier une offre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Titre et description detaillee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Categorie et competences (JSON)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Type : horaire ou forfait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Budget minimum / maximum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Niveau d'experience requis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Duree estimee du projet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Options : mis en avant / urgent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11430000" cy="27432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5288"/>
                </a:solidFill>
                <a:latin typeface="Calibri"/>
              </a:rPr>
              <a:t>Cycle de vie d'une offre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66360"/>
            <a:ext cx="2377440" cy="5943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166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Brouillon
(draft)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2852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6464"/>
                </a:solidFill>
                <a:latin typeface="Calibri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5166360"/>
            <a:ext cx="23774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5166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Ouverte
(open)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2852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6464"/>
                </a:solidFill>
                <a:latin typeface="Calibri"/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5166360"/>
            <a:ext cx="237744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5166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 cours
(in_progress)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2852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6464"/>
                </a:solidFill>
                <a:latin typeface="Calibri"/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5166360"/>
            <a:ext cx="2377440" cy="5943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5166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Terminee
(completed)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1887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Cote FREELANCER — Recherche &amp; Filtres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719072"/>
            <a:ext cx="128016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71907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Mots-cles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8105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Recherche dans titre et description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423160"/>
            <a:ext cx="128016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4231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514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Hierarchie parent / enfant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127248"/>
            <a:ext cx="128016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12724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2186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Min / Max configurable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31336"/>
            <a:ext cx="128016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831336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9227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Horaire ou forfait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535424"/>
            <a:ext cx="128016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4535424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462686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Entry / Mid / Expert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5239512"/>
            <a:ext cx="128016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523951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53309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Recents / Budget / Popularite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Module 3 &amp; 4 — Propositions et Contrats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Soumission, acceptation et creation automatique du contrat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783080" cy="3657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178308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2763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Publie
une offre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87451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&gt;&gt;&gt;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143000"/>
            <a:ext cx="178308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143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SYSTEME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572768"/>
            <a:ext cx="178308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162763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Notifie les
freelancers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87451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143000"/>
            <a:ext cx="17830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143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FREELANCER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572768"/>
            <a:ext cx="178308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62763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Soumet une
proposition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87451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&gt;&gt;&gt;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178308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143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572768"/>
            <a:ext cx="178308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2763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Genere la
lettre (optionnel)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187451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&gt;&gt;&gt;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143000"/>
            <a:ext cx="1783080" cy="3657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143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572768"/>
            <a:ext cx="178308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62763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Accepte
la proposition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187451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Calibri"/>
              </a:rPr>
              <a:t>&gt;&gt;&gt;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1143000"/>
            <a:ext cx="17830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11430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SYSTEME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04120" y="1572768"/>
            <a:ext cx="1783080" cy="9144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1627632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CONTRAT
CREE AUTO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26517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788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288"/>
                </a:solidFill>
                <a:latin typeface="Calibri"/>
              </a:rPr>
              <a:t>Une Proposition contient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2461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Lettre de motivation (ou generee par IA)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Montant propose (bid_amount)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Duree estimee + unite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Jalons optionnels (JSON)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Pieces jointes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Marque si IA generated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788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288"/>
                </a:solidFill>
                <a:latin typeface="Calibri"/>
              </a:rPr>
              <a:t>Un Contrat contient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2461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Liaison Job + Proposition + 2 users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Type : horaire ou forfait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Montant total + escrow_amount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Statuts : active / paused / completed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Jalons avec montants et delais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•  Date de debut et deadline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5288"/>
                </a:solidFill>
                <a:latin typeface="Calibri"/>
              </a:rPr>
              <a:t>Creation AUTOMATIQUE du contrat lors de l'acceptation  —  Conversation ouverte automatiquement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Module 5 — Paiements &amp; Escrow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Systeme de paiement securise avec 3 soldes distincts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PORTEFEUILLE (Wallet)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73152" cy="6400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4572000" cy="64008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288"/>
                </a:solidFill>
                <a:latin typeface="Calibri"/>
              </a:rPr>
              <a:t>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39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Solde disponible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05288"/>
                </a:solidFill>
                <a:latin typeface="Calibri"/>
              </a:rPr>
              <a:t>$1 200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73152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4572000" cy="64008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pending_balance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16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En attente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06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67E22"/>
                </a:solidFill>
                <a:latin typeface="Calibri"/>
              </a:rPr>
              <a:t>$50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73152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4572000" cy="64008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  <a:latin typeface="Calibri"/>
              </a:rPr>
              <a:t>escrow_balance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Calibri"/>
              </a:rPr>
              <a:t>Bloque escrow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383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8E44AD"/>
                </a:solidFill>
                <a:latin typeface="Calibri"/>
              </a:rPr>
              <a:t>$300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1887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Les 4 Phases du Paiement Securise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1719072"/>
            <a:ext cx="1481328" cy="18288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73736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 DEPOT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28600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CF0FF"/>
                </a:solidFill>
                <a:latin typeface="Calibri"/>
              </a:rPr>
              <a:t>Client depose 1 500$
wallet.balance += 1500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1719072"/>
            <a:ext cx="1481328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173736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2. ESCROW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228600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CF0FF"/>
                </a:solidFill>
                <a:latin typeface="Calibri"/>
              </a:rPr>
              <a:t>Finance jalon (300$)
balance-=300 / escrow+=300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06256" y="1719072"/>
            <a:ext cx="1481328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6256" y="173736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3. LIVRAISON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6" y="228600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CF0FF"/>
                </a:solidFill>
                <a:latin typeface="Calibri"/>
              </a:rPr>
              <a:t>Freelancer soumet
milestone.status = 'submitted'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79024" y="1719072"/>
            <a:ext cx="1481328" cy="1828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79024" y="1737360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4. LIBERATION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9024" y="2286000"/>
            <a:ext cx="14813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CF0FF"/>
                </a:solidFill>
                <a:latin typeface="Calibri"/>
              </a:rPr>
              <a:t>Client approuve
90% freelancer + 10% commission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749039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886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Modele economique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389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C3C3C"/>
                </a:solidFill>
                <a:latin typeface="Calibri"/>
              </a:rPr>
              <a:t>Commission plateforme = 10%  par liberation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892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Calibri"/>
              </a:rPr>
              <a:t>Exemple : Jalon 300$   =&gt;   Freelancer recoit 270$   |   Plateforme gagne 30$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44068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[OK]  L'argent est bloque AVANT le debut du travail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[OK]  Freelancer garanti : impossible de ne pas etre paye si le jalon est approuve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[OK]  Client garanti : l'argent n'est libere QUE sur son approbation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C3C3C"/>
                </a:solidFill>
                <a:latin typeface="Calibri"/>
              </a:rPr>
              <a:t>  [OK]  Transactions atomiques MySQL : DB::transaction()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Module 6 — Messagerie Temps Reel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Socket.IO + Laravel API REST  —  Persistance et instantaneite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120640" cy="86868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Freelancer (React)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F0FF"/>
                </a:solidFill>
                <a:latin typeface="Calibri"/>
              </a:rPr>
              <a:t>socket.send()  +  HTTP POST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5120640" cy="868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706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Socket.IO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729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F0FF"/>
                </a:solidFill>
                <a:latin typeface="Calibri"/>
              </a:rPr>
              <a:t>Broadcast instantane au destinataire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12064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76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Laravel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788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F0FF"/>
                </a:solidFill>
                <a:latin typeface="Calibri"/>
              </a:rPr>
              <a:t>Validation + persistance MySQL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09160"/>
            <a:ext cx="5120640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823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846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F0FF"/>
                </a:solidFill>
                <a:latin typeface="Calibri"/>
              </a:rPr>
              <a:t>Messages stockes + conversations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1887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Fonctionnalites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719072"/>
            <a:ext cx="201168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7190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8105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Freelancer &lt;-&gt; Client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386584"/>
            <a:ext cx="201168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38658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Groupe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47802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Lie a un contrat specifique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054096"/>
            <a:ext cx="201168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05409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Fichiers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14553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Texte / images / documents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721608"/>
            <a:ext cx="201168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721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Threading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81304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Reponse a un message cible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389120"/>
            <a:ext cx="201168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389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Lu / Non-lu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480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is_read  +  read_at timestamp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5056632"/>
            <a:ext cx="201168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505663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Pagination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14807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Chargement lazy au scroll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724144"/>
            <a:ext cx="2011680" cy="5486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572414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Auto-creation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81558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A l'acceptation d'une proposition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Module 7 — Intelligence Artificielle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Ollama / Mistral 7B  —  5 fonctionnalites IA integ rees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Flux d'Integration 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1783080" cy="5943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83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6464"/>
                </a:solidFill>
                <a:latin typeface="Calibri"/>
              </a:rPr>
              <a:t>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691640"/>
            <a:ext cx="1783080" cy="5943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70992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783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6464"/>
                </a:solidFill>
                <a:latin typeface="Calibri"/>
              </a:rPr>
              <a:t>&gt;&gt;&gt;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91640"/>
            <a:ext cx="178308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70992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MySQL (contexte)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783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6464"/>
                </a:solidFill>
                <a:latin typeface="Calibri"/>
              </a:rPr>
              <a:t>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178308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0992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Ollama / Mistral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783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6464"/>
                </a:solidFill>
                <a:latin typeface="Calibri"/>
              </a:rPr>
              <a:t>&gt;&gt;&gt;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691640"/>
            <a:ext cx="1783080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70992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ai_histories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178308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6464"/>
                </a:solidFill>
                <a:latin typeface="Calibri"/>
              </a:rPr>
              <a:t>&gt;&gt;&gt;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1691640"/>
            <a:ext cx="1783080" cy="5943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70992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423160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560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5 Fonctionnalites 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17520"/>
            <a:ext cx="2240280" cy="256032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0358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Generation Proposition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74903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F0FF"/>
                </a:solidFill>
                <a:latin typeface="Calibri"/>
              </a:rPr>
              <a:t>Lettre adaptee a l'offre
et au profil freelancer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017520"/>
            <a:ext cx="2240280" cy="2560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0358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Matching Freelancers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374903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F0FF"/>
                </a:solidFill>
                <a:latin typeface="Calibri"/>
              </a:rPr>
              <a:t>Meilleures suggestions
pour une offre client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017520"/>
            <a:ext cx="224028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0358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Analyse de Profil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74903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F0FF"/>
                </a:solidFill>
                <a:latin typeface="Calibri"/>
              </a:rPr>
              <a:t>Conseils personnalises
pour ameliorer son profil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017520"/>
            <a:ext cx="2240280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30358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Chat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74903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F0FF"/>
                </a:solidFill>
                <a:latin typeface="Calibri"/>
              </a:rPr>
              <a:t>Aide contextuelle
sur la plateforme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3017520"/>
            <a:ext cx="2240280" cy="2560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30358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Smart 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749039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CF0FF"/>
                </a:solidFill>
                <a:latin typeface="Calibri"/>
              </a:rPr>
              <a:t>Recherche en
langage naturel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806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7E22"/>
                </a:solidFill>
                <a:latin typeface="Calibri"/>
              </a:rPr>
              <a:t>Fallback automatique : si Ollama est indisponible, des reponses pre-definies intelligentes sont retournees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Base de Donnees — 19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MySQL 8.0  |  Eloquent ORM  |  Migrations versionnees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51109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188720"/>
            <a:ext cx="182880" cy="804672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188720"/>
            <a:ext cx="4754880" cy="8046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6992" y="1225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5288"/>
                </a:solidFill>
                <a:latin typeface="Calibri"/>
              </a:rPr>
              <a:t>Auth / Profils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157276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users, freelancer_profiles,
client_profiles, subscriptions,
personal_access_tokens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103120"/>
            <a:ext cx="182880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2103120"/>
            <a:ext cx="4754880" cy="8046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6992" y="21396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Calibri"/>
              </a:rPr>
              <a:t>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48716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categories, skills,
freelancer_skills, portfolios,
job_postings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60" y="3017520"/>
            <a:ext cx="18288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3017520"/>
            <a:ext cx="4754880" cy="8046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30540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Calibri"/>
              </a:rPr>
              <a:t>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340156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proposals, contracts,
milestones, reviews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3931920"/>
            <a:ext cx="182880" cy="8046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3931920"/>
            <a:ext cx="4754880" cy="8046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39684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E44AD"/>
                </a:solidFill>
                <a:latin typeface="Calibri"/>
              </a:rP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31596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wallets, transactions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3017520"/>
            <a:ext cx="182880" cy="804672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32720" y="3017520"/>
            <a:ext cx="4754880" cy="8046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30540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8D7"/>
                </a:solidFill>
                <a:latin typeface="Calibri"/>
              </a:rPr>
              <a:t>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5872" y="340156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conversations, messages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3931920"/>
            <a:ext cx="182880" cy="8046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32720" y="3931920"/>
            <a:ext cx="4754880" cy="8046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05872" y="39684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80B9"/>
                </a:solidFill>
                <a:latin typeface="Calibri"/>
              </a:rPr>
              <a:t>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431596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6464"/>
                </a:solidFill>
                <a:latin typeface="Calibri"/>
              </a:rPr>
              <a:t>ai_histories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Diagrammes UML —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17 diagrammes couvrant tous les aspects du systeme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use_case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3749039" cy="15773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9144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5288"/>
                </a:solidFill>
                <a:latin typeface="Calibri"/>
              </a:rPr>
              <a:t>Use Case Global</a:t>
            </a:r>
          </a:p>
        </p:txBody>
      </p:sp>
      <p:pic>
        <p:nvPicPr>
          <p:cNvPr id="9" name="Picture 8" descr="04_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88720"/>
            <a:ext cx="3749039" cy="26219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9144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5288"/>
                </a:solidFill>
                <a:latin typeface="Calibri"/>
              </a:rPr>
              <a:t>Classes</a:t>
            </a:r>
          </a:p>
        </p:txBody>
      </p:sp>
      <p:pic>
        <p:nvPicPr>
          <p:cNvPr id="11" name="Picture 10" descr="11_activity_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188720"/>
            <a:ext cx="3840480" cy="67773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20" y="9144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5288"/>
                </a:solidFill>
                <a:latin typeface="Calibri"/>
              </a:rPr>
              <a:t>Activite Cycle Mission</a:t>
            </a:r>
          </a:p>
        </p:txBody>
      </p:sp>
      <p:pic>
        <p:nvPicPr>
          <p:cNvPr id="13" name="Picture 12" descr="08_sequence_esc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31920"/>
            <a:ext cx="3749039" cy="55027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36576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5288"/>
                </a:solidFill>
                <a:latin typeface="Calibri"/>
              </a:rPr>
              <a:t>Sequence Escrow</a:t>
            </a:r>
          </a:p>
        </p:txBody>
      </p:sp>
      <p:pic>
        <p:nvPicPr>
          <p:cNvPr id="15" name="Picture 14" descr="15_state_contr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931920"/>
            <a:ext cx="3749039" cy="22848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20" y="36576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5288"/>
                </a:solidFill>
                <a:latin typeface="Calibri"/>
              </a:rPr>
              <a:t>Etats Contrat</a:t>
            </a:r>
          </a:p>
        </p:txBody>
      </p:sp>
      <p:pic>
        <p:nvPicPr>
          <p:cNvPr id="17" name="Picture 16" descr="17_deploy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931920"/>
            <a:ext cx="3840480" cy="23753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0" y="3657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5288"/>
                </a:solidFill>
                <a:latin typeface="Calibri"/>
              </a:rPr>
              <a:t>Deploiement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Securite — 4 Couches de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Authentification  |  Autorisation  |  Validation  |  Donnees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Couche 1 : AUTHENTIFICATION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190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Sanctum Bearer Token — unique par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6771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Revocable immediatement a la deconnexion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1635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Google OAuth — delegation a Google (pas de mdp stocke)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Couche 2 : AUTORISATION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190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Middleware role:freelancer / role:client / role:admin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6771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Principe de moindre privilege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1635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Un etudiant ne peut PAS acceder aux routes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40"/>
            <a:ext cx="5669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749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Couche 3 :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7939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Form Requests Laravel cote serveur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82803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Types verifies + longueurs 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3766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Codes HTTP standards (401, 403, 422, 500)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40"/>
            <a:ext cx="566928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749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Couche 4 : DONNEES SENSIBLES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7939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Mots de passe haches avec bcrypt (Hash::make)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2803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Secrets dans .env — jamais en dur dans le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37667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CORS configure — seul le domaine frontend autorise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Demonstration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http://localhost:5173  |  http://localhost:8000  |  http://localhost:11434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Scenario 1 : Inscription Freelancer  (2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1907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1.  S'inscrire en tant que freelancer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1343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2.  Processus onboarding : 5 etapes completes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0779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3.  Tableau de bord freelancer — statistiques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Scenario 2 : Workflow Client  (2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1907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1.  Publier une offre d'emploi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1343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2.  Consulter les profils freelancers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0779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3.  Accepter une proposition → Contrat cree auto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40"/>
            <a:ext cx="56692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749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Scenario 3 : IA et Paiement  (2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27939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1.  Freelancer genere une proposition via Ollama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87375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2.  Client finance l'escrow → Freelancer livre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46811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3.  Liberation du paiement et messagerie temps reel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40"/>
            <a:ext cx="566928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749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Bonus : Admin Dashboard  (30 sec)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7939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1.  Statistiques globales de la plateforme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87375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2.  Gestion des utilisateurs (ban, verifier)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6811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3.  Analytics et revenus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Difficultes Rencontrees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Problemes reels resolus au cours du developpement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657600" cy="384048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7639" y="1143000"/>
            <a:ext cx="36576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143000"/>
            <a:ext cx="39319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Difficulte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143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1430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81912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581912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581912"/>
            <a:ext cx="39319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6733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Configuration 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6733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Origines Laravel:8000 / React:5173 differentes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6733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cors.php + SANCTUM_STATEFUL_DOMAINS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03704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2203704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2203704"/>
            <a:ext cx="3931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2951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Migration Sanctum absente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2951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Table personal_access_tokens manquante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29514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Migration dediee 2026_05_19_...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25496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2825496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2825496"/>
            <a:ext cx="39319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9169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Middleware non reconnu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9169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Alias non declares dans bootstrap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91693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Correction withMiddleware() dans app.php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47288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7639" y="3447288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3447288"/>
            <a:ext cx="3931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38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Palettes Tailwind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3538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Shades CSS non definis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5387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Ajout 50-950 dans tailwind.config.js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69080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77639" y="4069080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069080"/>
            <a:ext cx="39319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Ollama indisponible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4160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Serveur IA non demarre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160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try/catch avec reponses fallback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690872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77639" y="4690872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79" y="4690872"/>
            <a:ext cx="3931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7823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Escrow 3 soldes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47823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Logique atomique complexe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78231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DB::transaction() Laravel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312664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77639" y="5312664"/>
            <a:ext cx="365760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55279" y="5312664"/>
            <a:ext cx="3931920" cy="56692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4041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Upload images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4041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Type MIME et stockage securise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540410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Intervention/Image + storage/app/public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934456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77639" y="5934456"/>
            <a:ext cx="3657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55279" y="5934456"/>
            <a:ext cx="3931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0258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288"/>
                </a:solidFill>
                <a:latin typeface="Calibri"/>
              </a:rPr>
              <a:t>Onboarding champs abs.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60258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C3C3C"/>
                </a:solidFill>
                <a:latin typeface="Calibri"/>
              </a:rPr>
              <a:t>Profil incomplet apres inscription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602589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Migration additive add_onboarding_fields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Competences Acquises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Bilan technique et personnel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Competences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Base de donnees relationnelles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66544"/>
            <a:ext cx="5029200" cy="25603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66544"/>
            <a:ext cx="4526280" cy="256032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665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288"/>
                </a:solidFill>
                <a:latin typeface="Calibr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0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API REST Laravel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98064"/>
            <a:ext cx="5029200" cy="25603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98064"/>
            <a:ext cx="4123944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79806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Calibri"/>
              </a:rP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Frontend React 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9584"/>
            <a:ext cx="5029200" cy="25603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29584"/>
            <a:ext cx="3822192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33672" y="352958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76%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13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Securite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61104"/>
            <a:ext cx="5029200" cy="25603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61104"/>
            <a:ext cx="3419856" cy="2560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1336" y="42611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E44AD"/>
                </a:solidFill>
                <a:latin typeface="Calibri"/>
              </a:rPr>
              <a:t>68%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645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Integration IA (Ollama)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92624"/>
            <a:ext cx="5029200" cy="25603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92624"/>
            <a:ext cx="2766060" cy="2560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7540" y="49926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  <a:latin typeface="Calibri"/>
              </a:rPr>
              <a:t>55%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376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Temps reel (Socket.IO)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24144"/>
            <a:ext cx="5029200" cy="256032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724144"/>
            <a:ext cx="301752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57241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Calibri"/>
              </a:rPr>
              <a:t>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5288"/>
                </a:solidFill>
                <a:latin typeface="Calibri"/>
              </a:rPr>
              <a:t>Realisations en Chiffres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691640"/>
            <a:ext cx="1645920" cy="123444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8562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46888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2E6FF"/>
                </a:solidFill>
                <a:latin typeface="Calibri"/>
              </a:rPr>
              <a:t>Tables BDD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80" y="1691640"/>
            <a:ext cx="1645920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18562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46888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2E6FF"/>
                </a:solidFill>
                <a:latin typeface="Calibri"/>
              </a:rPr>
              <a:t>Endpoints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1691640"/>
            <a:ext cx="164592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185623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53+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46888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2E6FF"/>
                </a:solidFill>
                <a:latin typeface="Calibri"/>
              </a:rPr>
              <a:t>Composants React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108960"/>
            <a:ext cx="1645920" cy="1234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27355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8862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2E6FF"/>
                </a:solidFill>
                <a:latin typeface="Calibri"/>
              </a:rPr>
              <a:t>Auth methods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80" y="3108960"/>
            <a:ext cx="1645920" cy="1234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80" y="327355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38862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2E6FF"/>
                </a:solidFill>
                <a:latin typeface="Calibri"/>
              </a:rPr>
              <a:t>Features 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60" y="3108960"/>
            <a:ext cx="164592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6960" y="3273552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388620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2E6FF"/>
                </a:solidFill>
                <a:latin typeface="Calibri"/>
              </a:rPr>
              <a:t>Commission escrow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Perspectives d'Evolution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CFF"/>
                </a:solidFill>
                <a:latin typeface="Calibri"/>
              </a:rPr>
              <a:t>FreeNest — Feuille de route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Court terme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3749039" cy="5943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Deploiement production (VPS + Nginx + SSL)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2316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14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Integration Stripe pour paiements reels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3749039" cy="5943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00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Tests automatises (PHPUnit + Vitest)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Redis pour le cache et les queues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143000"/>
            <a:ext cx="3749039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1430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Moyen terme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737360"/>
            <a:ext cx="3749039" cy="5943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828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Application mobile React Native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42316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2514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IA avancee : embeddings + recherche semantique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108960"/>
            <a:ext cx="3749039" cy="5943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3200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Verification d'identite (KYC)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379476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Notifications push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1143000"/>
            <a:ext cx="3749039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8" y="11430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Long terme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8" y="1737360"/>
            <a:ext cx="3749039" cy="5943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8" y="1828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Internationalisation FR / EN / 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598" y="242316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25146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Programme d'affiliation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598" y="3108960"/>
            <a:ext cx="3749039" cy="594360"/>
          </a:xfrm>
          <a:prstGeom prst="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8" y="3200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API publique pour integrations tierces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598" y="3794760"/>
            <a:ext cx="3749039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8" y="38862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Calibri"/>
              </a:rPr>
              <a:t>  &gt;  Multi-devise et localisation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09160"/>
            <a:ext cx="11430000" cy="27432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846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288"/>
                </a:solidFill>
                <a:latin typeface="Calibri"/>
              </a:rPr>
              <a:t>Compétences à approfondir 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349240"/>
            <a:ext cx="2011680" cy="347472"/>
          </a:xfrm>
          <a:prstGeom prst="round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DevOps (Docker, CI/CD)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5349240"/>
            <a:ext cx="2011680" cy="34747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Tests automatises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349240"/>
            <a:ext cx="2011680" cy="347472"/>
          </a:xfrm>
          <a:prstGeom prst="roundRect">
            <a:avLst/>
          </a:prstGeom>
          <a:solidFill>
            <a:srgbClr val="005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Performance (Redis)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349240"/>
            <a:ext cx="2011680" cy="34747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ML / Embeddings vectoriels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FREENEST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4D2FF"/>
                </a:solidFill>
                <a:latin typeface="Calibri"/>
              </a:rPr>
              <a:t>Marketplace Freelance Full-Stack avec Intelligence Artificielle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331720"/>
            <a:ext cx="576072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67E22"/>
                </a:solidFill>
                <a:latin typeface="Calibri"/>
              </a:rPr>
              <a:t>Merci pour votre attention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8E1FF"/>
                </a:solidFill>
                <a:latin typeface="Calibri"/>
              </a:rPr>
              <a:t>19 tables MySQL  |  40+ endpoints API  |  53+ composants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8E1FF"/>
                </a:solidFill>
                <a:latin typeface="Calibri"/>
              </a:rPr>
              <a:t>5 fonctionnalites IA (Ollama/Mistral)  |  Escrow 10% commission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8E1FF"/>
                </a:solidFill>
                <a:latin typeface="Calibri"/>
              </a:rPr>
              <a:t>Messagerie Socket.IO  |  OAuth Google  |  Interface 3D Three.js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937760"/>
            <a:ext cx="5760720" cy="457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Questions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D2FF"/>
                </a:solidFill>
                <a:latin typeface="Calibri"/>
              </a:rPr>
              <a:t>Ayoub Elmernissi   |   ayoubelmerniss55@gmail.com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99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CAAD2"/>
                </a:solidFill>
                <a:latin typeface="Calibri"/>
              </a:rPr>
              <a:t>Projet de Fin d'Etudes  —  2025 /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